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5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54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552" y="-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Top Variables Predictoras (Feature Importance)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Importancia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peso_levantado_kg</c:v>
                </c:pt>
                <c:pt idx="1">
                  <c:v>rpe</c:v>
                </c:pt>
                <c:pt idx="2">
                  <c:v>repeticiones_logradas</c:v>
                </c:pt>
                <c:pt idx="3">
                  <c:v>porcentaje_estimulo</c:v>
                </c:pt>
                <c:pt idx="4">
                  <c:v>dificultad</c:v>
                </c:pt>
                <c:pt idx="5">
                  <c:v>edad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0.28000000000000003</c:v>
                </c:pt>
                <c:pt idx="1">
                  <c:v>0.22</c:v>
                </c:pt>
                <c:pt idx="2">
                  <c:v>0.18</c:v>
                </c:pt>
                <c:pt idx="3">
                  <c:v>0.13</c:v>
                </c:pt>
                <c:pt idx="4">
                  <c:v>0.11</c:v>
                </c:pt>
                <c:pt idx="5">
                  <c:v>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7D-4D6E-A534-E6F754CF97A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8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6649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2C967-3D7D-DE0C-8FD8-2796C678D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98ED09-15B6-4EF9-4745-B7FFDBE89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04D617-6494-E8FB-4F83-3C8380FC5F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E49566-338D-A8B1-187D-9179AA33B2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1215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28090">
              <a:alpha val="28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HypertrophIA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Modelamiento de Inteligencia Artificial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Datos para IA  ·  Evaluación Parcial N°3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5303520" cy="1691640"/>
          </a:xfrm>
          <a:prstGeom prst="roundRect">
            <a:avLst>
              <a:gd name="adj" fmla="val 5405"/>
            </a:avLst>
          </a:prstGeom>
          <a:solidFill>
            <a:srgbClr val="1A2E4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777240" y="2907792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Salazar Philimon  19058493-3
Gabriel Durán  21765994-9
Martín Higuera  20883971-3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572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A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Héctor Andrés Morel Briones  ·  DUOC UC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la Presentación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66928" y="1069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5568" y="108813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Calidad de Datos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566928" y="1984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200253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Univariado y Bivariado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566928" y="2898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15568" y="291693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y Elección del Modelo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566928" y="3813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15568" y="383133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e Interpretación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96012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4956048" y="1069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04688" y="108813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Seguridad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187452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4956048" y="1984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504688" y="200253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y Mejoras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278892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4956048" y="2898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04688" y="291693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del Pipeline (en vivo)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370332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4956048" y="3813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04688" y="383133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y Conclusiones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Calidad de Datos (</a:t>
            </a:r>
            <a:r>
              <a:rPr lang="en-US" sz="3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</a:t>
            </a: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Pipeline)</a:t>
            </a:r>
            <a:endParaRPr lang="en-US" sz="3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Datos e Imputación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EAF6F6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Completitud del dataset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nulos tras la Fase 1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242316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EAF6F6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Imputaciones requeridas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protegidos por EDA previo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20440" y="914400"/>
            <a:ext cx="52120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3657600" y="10058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estratégica del pipeline DataOps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57600" y="1417320"/>
            <a:ext cx="48463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2_transform.py ya purgó duplicados y homogeneizó formatos temporales.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3_validate.py aplicó reglas de negocio: edades 14-100 años, RPE 1-10, cargas realistas.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consolidado ingresó con completitud total, preservando la varianza original.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introdujeron sesgos artificiales por relleno de medias o medianas.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11480" y="39776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clases: 90% Sin Lesión (clase 0)  ·  10% Lesión (clase 1) → desbalance crítico identificado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FDB78-07C1-9F9D-3D76-23BF10EF4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09BFE30-2BA9-93FA-354E-1255089E6C13}"/>
              </a:ext>
            </a:extLst>
          </p:cNvPr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 err="1"/>
              <a:t>Visualizacion</a:t>
            </a:r>
            <a:r>
              <a:rPr lang="en-US" sz="2200" dirty="0"/>
              <a:t> de </a:t>
            </a:r>
            <a:r>
              <a:rPr lang="en-US" sz="2200" dirty="0" err="1"/>
              <a:t>otros</a:t>
            </a:r>
            <a:r>
              <a:rPr lang="en-US" sz="2200" dirty="0"/>
              <a:t> </a:t>
            </a:r>
            <a:r>
              <a:rPr lang="en-US" sz="2200" dirty="0" err="1"/>
              <a:t>tipos</a:t>
            </a:r>
            <a:r>
              <a:rPr lang="en-US" sz="2200" dirty="0"/>
              <a:t> de </a:t>
            </a:r>
            <a:r>
              <a:rPr lang="en-US" sz="2200" dirty="0" err="1"/>
              <a:t>estadisticos</a:t>
            </a:r>
            <a:endParaRPr lang="en-US" sz="2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5260DDE-1FD6-8F1A-F8C1-FA0F91DBFF67}"/>
              </a:ext>
            </a:extLst>
          </p:cNvPr>
          <p:cNvSpPr/>
          <p:nvPr/>
        </p:nvSpPr>
        <p:spPr>
          <a:xfrm>
            <a:off x="457200" y="731520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D4C7790-34D9-ED70-A8B1-E53312668A0B}"/>
              </a:ext>
            </a:extLst>
          </p:cNvPr>
          <p:cNvSpPr/>
          <p:nvPr/>
        </p:nvSpPr>
        <p:spPr>
          <a:xfrm>
            <a:off x="457200" y="251460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BDD9E2E-274F-EC2C-8C2F-45189D54F13B}"/>
              </a:ext>
            </a:extLst>
          </p:cNvPr>
          <p:cNvSpPr/>
          <p:nvPr/>
        </p:nvSpPr>
        <p:spPr>
          <a:xfrm>
            <a:off x="457200" y="32004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822A5C0-C912-E044-2621-BBCB006C493A}"/>
              </a:ext>
            </a:extLst>
          </p:cNvPr>
          <p:cNvSpPr/>
          <p:nvPr/>
        </p:nvSpPr>
        <p:spPr>
          <a:xfrm>
            <a:off x="3657600" y="10058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0F30786-7CB6-EAF2-1BB2-2BE671C69B04}"/>
              </a:ext>
            </a:extLst>
          </p:cNvPr>
          <p:cNvSpPr/>
          <p:nvPr/>
        </p:nvSpPr>
        <p:spPr>
          <a:xfrm>
            <a:off x="3657600" y="1417320"/>
            <a:ext cx="48463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  <a:buSzPct val="100000"/>
            </a:pPr>
            <a:endParaRPr lang="en-US" sz="135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65CEDC66-397F-1749-4FB0-8872C7229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05840"/>
            <a:ext cx="2343477" cy="3467584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D6FA2251-E305-F4B5-78FD-03E9F78D28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7638" y="897895"/>
            <a:ext cx="5484882" cy="1841737"/>
          </a:xfrm>
          <a:prstGeom prst="rect">
            <a:avLst/>
          </a:prstGeom>
        </p:spPr>
      </p:pic>
      <p:sp>
        <p:nvSpPr>
          <p:cNvPr id="22" name="Shape 8">
            <a:extLst>
              <a:ext uri="{FF2B5EF4-FFF2-40B4-BE49-F238E27FC236}">
                <a16:creationId xmlns:a16="http://schemas.microsoft.com/office/drawing/2014/main" id="{8EDF97B4-86F7-8DA9-0FF3-965BBFE5F3FF}"/>
              </a:ext>
            </a:extLst>
          </p:cNvPr>
          <p:cNvSpPr/>
          <p:nvPr/>
        </p:nvSpPr>
        <p:spPr>
          <a:xfrm>
            <a:off x="3613591" y="2857500"/>
            <a:ext cx="4752975" cy="164592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es-CL" dirty="0"/>
              <a:t>Como hallazgo no hay nulos</a:t>
            </a:r>
          </a:p>
        </p:txBody>
      </p:sp>
    </p:spTree>
    <p:extLst>
      <p:ext uri="{BB962C8B-B14F-4D97-AF65-F5344CB8AC3E}">
        <p14:creationId xmlns:p14="http://schemas.microsoft.com/office/powerpoint/2010/main" val="539454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Univariado y Bivariado</a:t>
            </a:r>
            <a:endParaRPr lang="en-US" sz="3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Variables y Matriz de Correlación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Carga Física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426464"/>
            <a:ext cx="246888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246888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correlación entre peso_levantado_kg, dificultad y RPE. A mayor carga y dificultad, el RPE alcanza valores de 8-10, desencadenando mayor estrés muscular.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91440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EAF6F6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3474720" y="1005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 Demográfica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74720" y="1426464"/>
            <a:ext cx="246888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3474720" y="1508760"/>
            <a:ext cx="246888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edad interactúa fuertemente con el porcentaje de estímulo. Usuarios mayores expuestos a estímulos máximos presentan mayor probabilidad de fatiga extrema.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91440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6400800" y="1005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Independencia de IDs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0" y="1426464"/>
            <a:ext cx="246888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6400800" y="1508760"/>
            <a:ext cx="246888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id_usuario e id_sesion mostraron correlación nula con el rendimiento, confirmando la necesidad de excluirlas (drop) antes del entrenamiento.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34290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FF3E0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59436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Desbalance Crítico de Clases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38404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que predice siempre 'Sin Lesión' lograría 90% de Accuracy falsamente. Por ello se priorizó Recall como métrica principal.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y Elección del Modelo</a:t>
            </a:r>
            <a:endParaRPr lang="en-US" sz="3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y Justificación del Modelo de IA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38862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3886200" cy="457200"/>
          </a:xfrm>
          <a:prstGeom prst="roundRect">
            <a:avLst>
              <a:gd name="adj" fmla="val 16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548640" y="96926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Logística  (Baseline)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3611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paramétrico lineal con regularización L1/L2/ElasticNet.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interpretabilidad, bajo costo computacional.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Tiende a predecir siempre clase mayoritaria en datos desbalanceados.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Recall en la clase lesión → descartado.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069080" cy="2743200"/>
          </a:xfrm>
          <a:prstGeom prst="roundRect">
            <a:avLst>
              <a:gd name="adj" fmla="val 2667"/>
            </a:avLst>
          </a:prstGeom>
          <a:solidFill>
            <a:srgbClr val="EAF6F6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06908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4800600" y="96926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Random Forest  (Seleccionado)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444752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Ensamble de árboles (bagging), captura relaciones no lineales.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Resiliencia matemática superior ante desbalance de clases.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Recall (~40%) y AUC de 0.74 vs. línea base.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nativa → interpretabilidad biomecánica.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749040"/>
            <a:ext cx="8321040" cy="868680"/>
          </a:xfrm>
          <a:prstGeom prst="roundRect">
            <a:avLst>
              <a:gd name="adj" fmla="val 8421"/>
            </a:avLst>
          </a:prstGeom>
          <a:solidFill>
            <a:srgbClr val="EAF6F6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594360" y="3840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Preprocesamiento: 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606040" y="384048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de IDs (evitar data leakage)  ·  One-Hot Encoding (variables categóricas)  ·  StandardScaler (media=0, std=1)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del Modelo</a:t>
            </a:r>
            <a:endParaRPr lang="en-US" sz="3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Rendimiento del Modelo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4F4F4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pero engañosa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(desbalance de clases)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14600" y="91440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E0F5F5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2514600" y="987552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514600" y="17373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514600" y="20574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 10 lesiones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detectadas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91440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E0FAF4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4663440" y="987552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663440" y="17373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63440" y="20574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Discriminación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aceptable-buena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12280" y="91440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E6EAF4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6812280" y="987552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812280" y="17373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12280" y="20574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predictiva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moderada-alta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834640"/>
            <a:ext cx="8366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548640" y="2907792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Confusión – Análisis por Cuadrante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246120"/>
            <a:ext cx="1993392" cy="1143000"/>
          </a:xfrm>
          <a:prstGeom prst="roundRect">
            <a:avLst>
              <a:gd name="adj" fmla="val 4800"/>
            </a:avLst>
          </a:prstGeom>
          <a:solidFill>
            <a:srgbClr val="E8F5E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448056" y="33101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Verdaderos Negativos (TN)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8056" y="365760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Mayoría correctamente predichos como 'Sin lesión'.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87168" y="3246120"/>
            <a:ext cx="1993392" cy="1143000"/>
          </a:xfrm>
          <a:prstGeom prst="roundRect">
            <a:avLst>
              <a:gd name="adj" fmla="val 4800"/>
            </a:avLst>
          </a:prstGeom>
          <a:solidFill>
            <a:srgbClr val="E3F2F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2569464" y="33101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Verdaderos Positivos (TP)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69464" y="365760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Lesiones reales interceptadas por el modelo.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08576" y="3246120"/>
            <a:ext cx="1993392" cy="1143000"/>
          </a:xfrm>
          <a:prstGeom prst="roundRect">
            <a:avLst>
              <a:gd name="adj" fmla="val 4800"/>
            </a:avLst>
          </a:prstGeom>
          <a:solidFill>
            <a:srgbClr val="FFF8E1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4690872" y="33101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Positivos (FP)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90872" y="365760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innecesaria. Error aceptable en salud deportiva.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29984" y="3246120"/>
            <a:ext cx="1993392" cy="1143000"/>
          </a:xfrm>
          <a:prstGeom prst="roundRect">
            <a:avLst>
              <a:gd name="adj" fmla="val 4800"/>
            </a:avLst>
          </a:prstGeom>
          <a:solidFill>
            <a:srgbClr val="FFEBEE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6812280" y="33101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Negativos (FN) ⚠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12280" y="365760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Lesión no detectada. Error crítico a minimizar.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de Resultados y Feature Importance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82296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91440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E0F5F5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5715000" y="1005840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  Carga Absoluta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715000" y="13716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peso_levantado_kg es el predictor #1. Más peso = mayor riesgo biomecánico.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577840" y="224028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FF3E0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5715000" y="2331720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💪  Esfuerzo Percibido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715000" y="269748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RPE alto (cerca del fallo muscular) dispara el riesgo de lesión.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577840" y="356616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E8F5E9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5715000" y="3657600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Volumen de la Serie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715000" y="402336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repeticiones_logradas determina la fatiga acumulada en la serie.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65760" y="4434840"/>
            <a:ext cx="8366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El modelo aprendió las leyes de la fisiología deportiva, no ruido estadístico.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Seguridad</a:t>
            </a:r>
            <a:endParaRPr lang="en-US" sz="3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Seguridad y Protección de Datos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E3F2FD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30352" y="10241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Pseudonimización para IA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14630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entrenado sin PII (nombre, correo). Solo interactúa con métricas físicas vinculadas a un UUID opaco. Imposible realizar ingeniería inversa.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E8F5E9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4919472" y="10241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Cifrado Integral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19472" y="14630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 reposo bajo AES-256 (Supabase). Transferencias protegidas con TLS/HTTPS, bloqueando ataques Man-in-the-Middle.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88036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FF3E0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530352" y="29900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Control de Acceso (RBAC)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34290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de Mínimo Privilegio. La cuenta de la IA solo tiene permisos SELECT. Sin privilegios DROP/ALTER sobre las tablas.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0" y="288036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EEE6FD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4919472" y="29900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Row Level Security (RLS)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9472" y="34290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RLS en Supabase: cada usuario autenticado solo accede a sus propias métricas. Nadie puede ver datos de terceros.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" y="4663440"/>
            <a:ext cx="8366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Cumplimiento: Ley N° 19.628 sobre Protección de la Vida Privada (Chile)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y Propuestas de Mejora</a:t>
            </a:r>
            <a:endParaRPr lang="en-US" sz="3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Detectadas y Hoja de Ruta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Limitaciones Actuales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8F0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594360" y="138988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~40%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17007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 cada 10 lesiones aún no se detectan (Falsos Negativos).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2441448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8F0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594360" y="250545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Desbalance sin resolver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28163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90/10 sigue empujando al algoritmo a ser conservador con la clase minoritaria.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3557016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8F0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594360" y="362102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ajuste de hiperparámetros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436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entrenado con configuración por defecto; margen de mejora disponible.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663440" y="86868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Propuestas de Mejora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1325880"/>
            <a:ext cx="4069080" cy="777240"/>
          </a:xfrm>
          <a:prstGeom prst="roundRect">
            <a:avLst>
              <a:gd name="adj" fmla="val 9412"/>
            </a:avLst>
          </a:prstGeom>
          <a:solidFill>
            <a:srgbClr val="EAF6F6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4828032" y="13716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/ class_weight='balanced'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28032" y="16733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Sobremuestreo sintético de la clase lesión para elevar el Recall.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212848"/>
            <a:ext cx="4069080" cy="777240"/>
          </a:xfrm>
          <a:prstGeom prst="roundRect">
            <a:avLst>
              <a:gd name="adj" fmla="val 9412"/>
            </a:avLst>
          </a:prstGeom>
          <a:solidFill>
            <a:srgbClr val="EAF6F6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4828032" y="22585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LightGBM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28032" y="25603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de Gradient Boosting con manejo nativo de desbalances asimétricos.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3099816"/>
            <a:ext cx="4069080" cy="777240"/>
          </a:xfrm>
          <a:prstGeom prst="roundRect">
            <a:avLst>
              <a:gd name="adj" fmla="val 9412"/>
            </a:avLst>
          </a:prstGeom>
          <a:solidFill>
            <a:srgbClr val="EAF6F6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4828032" y="314553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28032" y="34472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exhaustiva de hiperparámetros para maximizar la curva ROC.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986784"/>
            <a:ext cx="4069080" cy="777240"/>
          </a:xfrm>
          <a:prstGeom prst="roundRect">
            <a:avLst>
              <a:gd name="adj" fmla="val 9412"/>
            </a:avLst>
          </a:prstGeom>
          <a:solidFill>
            <a:srgbClr val="EAF6F6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4828032" y="403250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Fatiga Acumulada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28032" y="433425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feature: RPE × Tonelaje Total, para mayor contexto fisiológico.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028090">
              <a:alpha val="22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02C39A">
              <a:alpha val="18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Mejorado  ·  Modelo IA  ·  Panel de Métricas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8046720" cy="475488"/>
          </a:xfrm>
          <a:prstGeom prst="roundRect">
            <a:avLst>
              <a:gd name="adj" fmla="val 15385"/>
            </a:avLst>
          </a:prstGeom>
          <a:solidFill>
            <a:srgbClr val="1A2E4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777240" y="312724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Ejecución del pipeline DataOps (ingest → transform → validate → load)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8046720" cy="475488"/>
          </a:xfrm>
          <a:prstGeom prst="roundRect">
            <a:avLst>
              <a:gd name="adj" fmla="val 15385"/>
            </a:avLst>
          </a:prstGeom>
          <a:solidFill>
            <a:srgbClr val="1A2E4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777240" y="372160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Inferencia del modelo Random Forest con nuevos datos de sesión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251960"/>
            <a:ext cx="8046720" cy="475488"/>
          </a:xfrm>
          <a:prstGeom prst="roundRect">
            <a:avLst>
              <a:gd name="adj" fmla="val 15385"/>
            </a:avLst>
          </a:prstGeom>
          <a:solidFill>
            <a:srgbClr val="1A2E4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777240" y="431596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Panel de reporte de métricas (Metabase / dashboard interactivo)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7365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A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presentará con el archivo externo del proyecto.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y Conclusiones</a:t>
            </a:r>
            <a:endParaRPr lang="en-US" sz="3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 y Conclusiones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60520" cy="1737360"/>
          </a:xfrm>
          <a:prstGeom prst="roundRect">
            <a:avLst>
              <a:gd name="adj" fmla="val 4211"/>
            </a:avLst>
          </a:prstGeom>
          <a:solidFill>
            <a:srgbClr val="E3F2FD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02920" y="1024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05156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funcional de extremo a extremo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51560" y="1463040"/>
            <a:ext cx="3337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→ Validación → Capa Gold → Modelo → Dashboard, operando de manera automatizada y segura en la nube.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60520" cy="1737360"/>
          </a:xfrm>
          <a:prstGeom prst="roundRect">
            <a:avLst>
              <a:gd name="adj" fmla="val 4211"/>
            </a:avLst>
          </a:prstGeom>
          <a:solidFill>
            <a:srgbClr val="E0FAF4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4892040" y="1024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40680" y="105156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predictivo fundamentado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40680" y="1463040"/>
            <a:ext cx="3337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aprende leyes fisiológicas reales: carga + esfuerzo + volumen son los 3 principales predictores de lesión.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4160520" cy="1737360"/>
          </a:xfrm>
          <a:prstGeom prst="roundRect">
            <a:avLst>
              <a:gd name="adj" fmla="val 4211"/>
            </a:avLst>
          </a:prstGeom>
          <a:solidFill>
            <a:srgbClr val="EEF4F7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502920" y="2944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297180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0.74 — base sólida para iteración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51560" y="3383280"/>
            <a:ext cx="3337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de discriminación por encima del azar. Con SMOTE + XGBoost el modelo puede alcanzar grado clínico-deportivo.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4160520" cy="1737360"/>
          </a:xfrm>
          <a:prstGeom prst="roundRect">
            <a:avLst>
              <a:gd name="adj" fmla="val 4211"/>
            </a:avLst>
          </a:prstGeom>
          <a:solidFill>
            <a:srgbClr val="EAF6EA"/>
          </a:solidFill>
          <a:ln w="12700">
            <a:solidFill>
              <a:srgbClr val="E2EA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4892040" y="2944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40680" y="297180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alineada con Ley 19.628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40680" y="3383280"/>
            <a:ext cx="3337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Pseudonimización, AES-256, TLS, RBAC y RLS garantizan privacidad de los datos biomecánicos de los usuarios del gimnasio.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" y="4709160"/>
            <a:ext cx="8366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transición DataOps → Machine Learning fue exitosa. HypertrophIA está listo para la siguiente fase de optimización.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914400"/>
            <a:ext cx="2743200" cy="27432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606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discusión técnica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HypertrophIA  ·  Gestión de Datos para IA  ·  Evaluación Parcial N°3  ·  DUOC UC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1158</Words>
  <Application>Microsoft Office PowerPoint</Application>
  <PresentationFormat>Presentación en pantalla (16:9)</PresentationFormat>
  <Paragraphs>179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HypertrophIA – Evaluación Parcial N°3</dc:title>
  <dc:subject>PptxGenJS Presentation</dc:subject>
  <dc:creator>PptxGenJS</dc:creator>
  <cp:lastModifiedBy>GABRIEL ISMAEL DURAN SANTANA</cp:lastModifiedBy>
  <cp:revision>2</cp:revision>
  <dcterms:created xsi:type="dcterms:W3CDTF">2026-06-23T20:51:24Z</dcterms:created>
  <dcterms:modified xsi:type="dcterms:W3CDTF">2026-06-23T21:08:46Z</dcterms:modified>
</cp:coreProperties>
</file>